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4630400" cy="8229600"/>
  <p:notesSz cx="8229600" cy="14630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93" d="100"/>
          <a:sy n="93" d="100"/>
        </p:scale>
        <p:origin x="522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57967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png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18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64037" y="1052036"/>
            <a:ext cx="7415927" cy="53232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8384"/>
              </a:lnSpc>
              <a:buNone/>
            </a:pPr>
            <a:r>
              <a:rPr lang="en-US" sz="6707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Grid Balance Maintenance App: A Solution for South Africa's Energy Challenges</a:t>
            </a:r>
            <a:endParaRPr lang="en-US" sz="6707" dirty="0"/>
          </a:p>
        </p:txBody>
      </p:sp>
      <p:sp>
        <p:nvSpPr>
          <p:cNvPr id="8" name="Text 3"/>
          <p:cNvSpPr/>
          <p:nvPr/>
        </p:nvSpPr>
        <p:spPr>
          <a:xfrm>
            <a:off x="1382316" y="6745605"/>
            <a:ext cx="3619738" cy="43195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3402"/>
              </a:lnSpc>
            </a:pPr>
            <a:r>
              <a:rPr lang="en-US" sz="2430" b="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Lesego</a:t>
            </a:r>
          </a:p>
          <a:p>
            <a:pPr marL="0" indent="0" algn="l">
              <a:lnSpc>
                <a:spcPts val="3402"/>
              </a:lnSpc>
              <a:buNone/>
            </a:pPr>
            <a:r>
              <a:rPr lang="en-US" sz="2430" b="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Oratile</a:t>
            </a:r>
          </a:p>
          <a:p>
            <a:pPr marL="0" indent="0" algn="l">
              <a:lnSpc>
                <a:spcPts val="3402"/>
              </a:lnSpc>
              <a:buNone/>
            </a:pPr>
            <a:r>
              <a:rPr lang="en-US" sz="2430" b="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Nyasha</a:t>
            </a:r>
            <a:endParaRPr lang="en-US" sz="2430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18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763667" y="619125"/>
            <a:ext cx="7616666" cy="136374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5369"/>
              </a:lnSpc>
              <a:buNone/>
            </a:pPr>
            <a:r>
              <a:rPr lang="en-US" sz="4295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Understanding South Africa's Energy Crisis</a:t>
            </a:r>
            <a:endParaRPr lang="en-US" sz="4295" dirty="0"/>
          </a:p>
        </p:txBody>
      </p:sp>
      <p:sp>
        <p:nvSpPr>
          <p:cNvPr id="6" name="Shape 2"/>
          <p:cNvSpPr/>
          <p:nvPr/>
        </p:nvSpPr>
        <p:spPr>
          <a:xfrm>
            <a:off x="763667" y="2310051"/>
            <a:ext cx="7616666" cy="1621393"/>
          </a:xfrm>
          <a:prstGeom prst="roundRect">
            <a:avLst>
              <a:gd name="adj" fmla="val 565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989409" y="2535793"/>
            <a:ext cx="2727484" cy="34087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685"/>
              </a:lnSpc>
              <a:buNone/>
            </a:pPr>
            <a:r>
              <a:rPr lang="en-US" sz="2148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Load Shedding</a:t>
            </a:r>
            <a:endParaRPr lang="en-US" sz="2148" dirty="0"/>
          </a:p>
        </p:txBody>
      </p:sp>
      <p:sp>
        <p:nvSpPr>
          <p:cNvPr id="8" name="Text 4"/>
          <p:cNvSpPr/>
          <p:nvPr/>
        </p:nvSpPr>
        <p:spPr>
          <a:xfrm>
            <a:off x="989409" y="3007519"/>
            <a:ext cx="7165181" cy="6981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49"/>
              </a:lnSpc>
              <a:buNone/>
            </a:pPr>
            <a:r>
              <a:rPr lang="en-US" sz="1718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Load shedding is a regular occurrence, impacting homes and businesses with unpredictable power outages.</a:t>
            </a:r>
            <a:endParaRPr lang="en-US" sz="1718" dirty="0"/>
          </a:p>
        </p:txBody>
      </p:sp>
      <p:sp>
        <p:nvSpPr>
          <p:cNvPr id="9" name="Shape 5"/>
          <p:cNvSpPr/>
          <p:nvPr/>
        </p:nvSpPr>
        <p:spPr>
          <a:xfrm>
            <a:off x="763667" y="4149566"/>
            <a:ext cx="7616666" cy="1621393"/>
          </a:xfrm>
          <a:prstGeom prst="roundRect">
            <a:avLst>
              <a:gd name="adj" fmla="val 565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989409" y="4375309"/>
            <a:ext cx="2727484" cy="34087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685"/>
              </a:lnSpc>
              <a:buNone/>
            </a:pPr>
            <a:r>
              <a:rPr lang="en-US" sz="2148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Grid Instability</a:t>
            </a:r>
            <a:endParaRPr lang="en-US" sz="2148" dirty="0"/>
          </a:p>
        </p:txBody>
      </p:sp>
      <p:sp>
        <p:nvSpPr>
          <p:cNvPr id="11" name="Text 7"/>
          <p:cNvSpPr/>
          <p:nvPr/>
        </p:nvSpPr>
        <p:spPr>
          <a:xfrm>
            <a:off x="989409" y="4847034"/>
            <a:ext cx="7165181" cy="6981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49"/>
              </a:lnSpc>
              <a:buNone/>
            </a:pPr>
            <a:r>
              <a:rPr lang="en-US" sz="1718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aging infrastructure struggles to handle the increasing demand and integration of renewables.</a:t>
            </a:r>
            <a:endParaRPr lang="en-US" sz="1718" dirty="0"/>
          </a:p>
        </p:txBody>
      </p:sp>
      <p:sp>
        <p:nvSpPr>
          <p:cNvPr id="12" name="Shape 8"/>
          <p:cNvSpPr/>
          <p:nvPr/>
        </p:nvSpPr>
        <p:spPr>
          <a:xfrm>
            <a:off x="763667" y="5989082"/>
            <a:ext cx="7616666" cy="1621393"/>
          </a:xfrm>
          <a:prstGeom prst="roundRect">
            <a:avLst>
              <a:gd name="adj" fmla="val 565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989409" y="6214824"/>
            <a:ext cx="2727484" cy="340876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685"/>
              </a:lnSpc>
              <a:buNone/>
            </a:pPr>
            <a:r>
              <a:rPr lang="en-US" sz="2148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Energy Inefficiency</a:t>
            </a:r>
            <a:endParaRPr lang="en-US" sz="2148" dirty="0"/>
          </a:p>
        </p:txBody>
      </p:sp>
      <p:sp>
        <p:nvSpPr>
          <p:cNvPr id="14" name="Text 10"/>
          <p:cNvSpPr/>
          <p:nvPr/>
        </p:nvSpPr>
        <p:spPr>
          <a:xfrm>
            <a:off x="989409" y="6686550"/>
            <a:ext cx="7165181" cy="69818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749"/>
              </a:lnSpc>
              <a:buNone/>
            </a:pPr>
            <a:r>
              <a:rPr lang="en-US" sz="1718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Wasteful energy consumption contributes to the strain on the grid and increases the cost of electricity.</a:t>
            </a:r>
            <a:endParaRPr lang="en-US" sz="1718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18">
              <a:alpha val="75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864037" y="1138357"/>
            <a:ext cx="12902327" cy="1543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6075"/>
              </a:lnSpc>
              <a:buNone/>
            </a:pPr>
            <a:r>
              <a:rPr lang="en-US" sz="486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AI-Driven Load Management: The Key to Efficient Energy Use</a:t>
            </a:r>
            <a:endParaRPr lang="en-US" sz="4860" dirty="0"/>
          </a:p>
        </p:txBody>
      </p:sp>
      <p:sp>
        <p:nvSpPr>
          <p:cNvPr id="5" name="Text 2"/>
          <p:cNvSpPr/>
          <p:nvPr/>
        </p:nvSpPr>
        <p:spPr>
          <a:xfrm>
            <a:off x="864037" y="3298508"/>
            <a:ext cx="3086100" cy="38576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3038"/>
              </a:lnSpc>
              <a:buNone/>
            </a:pPr>
            <a:r>
              <a:rPr lang="en-US" sz="243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AI Algorithm</a:t>
            </a:r>
            <a:endParaRPr lang="en-US" sz="2430" dirty="0"/>
          </a:p>
        </p:txBody>
      </p:sp>
      <p:sp>
        <p:nvSpPr>
          <p:cNvPr id="6" name="Text 3"/>
          <p:cNvSpPr/>
          <p:nvPr/>
        </p:nvSpPr>
        <p:spPr>
          <a:xfrm>
            <a:off x="864037" y="3931087"/>
            <a:ext cx="3898821" cy="11851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110"/>
              </a:lnSpc>
              <a:buNone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Analyzes data from smart devices and predicts energy demand patterns.</a:t>
            </a:r>
            <a:endParaRPr lang="en-US" sz="1944" dirty="0"/>
          </a:p>
        </p:txBody>
      </p:sp>
      <p:sp>
        <p:nvSpPr>
          <p:cNvPr id="7" name="Text 4"/>
          <p:cNvSpPr/>
          <p:nvPr/>
        </p:nvSpPr>
        <p:spPr>
          <a:xfrm>
            <a:off x="1258967" y="5338405"/>
            <a:ext cx="3503890" cy="39504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342900" indent="-342900" algn="l">
              <a:lnSpc>
                <a:spcPts val="3110"/>
              </a:lnSpc>
              <a:buSzPct val="100000"/>
              <a:buFont typeface="+mj-lt"/>
              <a:buAutoNum type="arabicPeriod"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Identifies peak hours</a:t>
            </a:r>
            <a:endParaRPr lang="en-US" sz="1944" dirty="0"/>
          </a:p>
        </p:txBody>
      </p:sp>
      <p:sp>
        <p:nvSpPr>
          <p:cNvPr id="8" name="Text 5"/>
          <p:cNvSpPr/>
          <p:nvPr/>
        </p:nvSpPr>
        <p:spPr>
          <a:xfrm>
            <a:off x="1258967" y="5819775"/>
            <a:ext cx="3503890" cy="39504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342900" indent="-342900" algn="l">
              <a:lnSpc>
                <a:spcPts val="3110"/>
              </a:lnSpc>
              <a:buSzPct val="100000"/>
              <a:buFont typeface="+mj-lt"/>
              <a:buAutoNum type="arabicPeriod" startAt="2"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Predicts potential overloads</a:t>
            </a:r>
            <a:endParaRPr lang="en-US" sz="1944" dirty="0"/>
          </a:p>
        </p:txBody>
      </p:sp>
      <p:sp>
        <p:nvSpPr>
          <p:cNvPr id="9" name="Text 6"/>
          <p:cNvSpPr/>
          <p:nvPr/>
        </p:nvSpPr>
        <p:spPr>
          <a:xfrm>
            <a:off x="5372695" y="3298508"/>
            <a:ext cx="3086100" cy="38576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3038"/>
              </a:lnSpc>
              <a:buNone/>
            </a:pPr>
            <a:r>
              <a:rPr lang="en-US" sz="243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Demand Response</a:t>
            </a:r>
            <a:endParaRPr lang="en-US" sz="2430" dirty="0"/>
          </a:p>
        </p:txBody>
      </p:sp>
      <p:sp>
        <p:nvSpPr>
          <p:cNvPr id="10" name="Text 7"/>
          <p:cNvSpPr/>
          <p:nvPr/>
        </p:nvSpPr>
        <p:spPr>
          <a:xfrm>
            <a:off x="5372695" y="3931087"/>
            <a:ext cx="3898821" cy="11851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110"/>
              </a:lnSpc>
              <a:buNone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Optimizes energy usage by automatically adjusting appliances and devices.</a:t>
            </a:r>
            <a:endParaRPr lang="en-US" sz="1944" dirty="0"/>
          </a:p>
        </p:txBody>
      </p:sp>
      <p:sp>
        <p:nvSpPr>
          <p:cNvPr id="11" name="Text 8"/>
          <p:cNvSpPr/>
          <p:nvPr/>
        </p:nvSpPr>
        <p:spPr>
          <a:xfrm>
            <a:off x="5767626" y="5338405"/>
            <a:ext cx="3503890" cy="790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lnSpc>
                <a:spcPts val="3110"/>
              </a:lnSpc>
              <a:buSzPct val="100000"/>
              <a:buFont typeface="+mj-lt"/>
              <a:buAutoNum type="arabicPeriod"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Reduces power consumption during peak hours</a:t>
            </a:r>
            <a:endParaRPr lang="en-US" sz="1944" dirty="0"/>
          </a:p>
        </p:txBody>
      </p:sp>
      <p:sp>
        <p:nvSpPr>
          <p:cNvPr id="12" name="Text 9"/>
          <p:cNvSpPr/>
          <p:nvPr/>
        </p:nvSpPr>
        <p:spPr>
          <a:xfrm>
            <a:off x="5767626" y="6214824"/>
            <a:ext cx="3503890" cy="7900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 algn="l">
              <a:lnSpc>
                <a:spcPts val="3110"/>
              </a:lnSpc>
              <a:buSzPct val="100000"/>
              <a:buFont typeface="+mj-lt"/>
              <a:buAutoNum type="arabicPeriod" startAt="2"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Shifts energy use to off-peak hours</a:t>
            </a:r>
            <a:endParaRPr lang="en-US" sz="1944" dirty="0"/>
          </a:p>
        </p:txBody>
      </p:sp>
      <p:sp>
        <p:nvSpPr>
          <p:cNvPr id="13" name="Text 10"/>
          <p:cNvSpPr/>
          <p:nvPr/>
        </p:nvSpPr>
        <p:spPr>
          <a:xfrm>
            <a:off x="9881354" y="3298508"/>
            <a:ext cx="3086100" cy="385763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3038"/>
              </a:lnSpc>
              <a:buNone/>
            </a:pPr>
            <a:r>
              <a:rPr lang="en-US" sz="243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 Benefits</a:t>
            </a:r>
            <a:endParaRPr lang="en-US" sz="2430" dirty="0"/>
          </a:p>
        </p:txBody>
      </p:sp>
      <p:sp>
        <p:nvSpPr>
          <p:cNvPr id="14" name="Text 11"/>
          <p:cNvSpPr/>
          <p:nvPr/>
        </p:nvSpPr>
        <p:spPr>
          <a:xfrm>
            <a:off x="9881354" y="3931087"/>
            <a:ext cx="3898821" cy="11851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3110"/>
              </a:lnSpc>
              <a:buNone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Users gain control over energy consumption and can reduce their energy bills.</a:t>
            </a:r>
            <a:endParaRPr lang="en-US" sz="1944" dirty="0"/>
          </a:p>
        </p:txBody>
      </p:sp>
      <p:sp>
        <p:nvSpPr>
          <p:cNvPr id="15" name="Text 12"/>
          <p:cNvSpPr/>
          <p:nvPr/>
        </p:nvSpPr>
        <p:spPr>
          <a:xfrm>
            <a:off x="10276284" y="5338405"/>
            <a:ext cx="3503890" cy="39504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342900" indent="-342900" algn="l">
              <a:lnSpc>
                <a:spcPts val="3110"/>
              </a:lnSpc>
              <a:buSzPct val="100000"/>
              <a:buFont typeface="+mj-lt"/>
              <a:buAutoNum type="arabicPeriod"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Enhanced energy awareness</a:t>
            </a:r>
            <a:endParaRPr lang="en-US" sz="1944" dirty="0"/>
          </a:p>
        </p:txBody>
      </p:sp>
      <p:sp>
        <p:nvSpPr>
          <p:cNvPr id="16" name="Text 13"/>
          <p:cNvSpPr/>
          <p:nvPr/>
        </p:nvSpPr>
        <p:spPr>
          <a:xfrm>
            <a:off x="10276284" y="5819775"/>
            <a:ext cx="3503890" cy="39504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342900" indent="-342900" algn="l">
              <a:lnSpc>
                <a:spcPts val="3110"/>
              </a:lnSpc>
              <a:buSzPct val="100000"/>
              <a:buFont typeface="+mj-lt"/>
              <a:buAutoNum type="arabicPeriod" startAt="2"/>
            </a:pPr>
            <a:r>
              <a:rPr lang="en-US" sz="1944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Personalized energy-saving tips</a:t>
            </a:r>
            <a:endParaRPr lang="en-US" sz="1944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18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091238" y="1194792"/>
            <a:ext cx="7934325" cy="10801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4253"/>
              </a:lnSpc>
              <a:buNone/>
            </a:pPr>
            <a:r>
              <a:rPr lang="en-US" sz="3402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Understanding User Behavior for Smarter Energy Management</a:t>
            </a:r>
            <a:endParaRPr lang="en-US" sz="3402" dirty="0"/>
          </a:p>
        </p:txBody>
      </p:sp>
      <p:sp>
        <p:nvSpPr>
          <p:cNvPr id="6" name="Shape 2"/>
          <p:cNvSpPr/>
          <p:nvPr/>
        </p:nvSpPr>
        <p:spPr>
          <a:xfrm>
            <a:off x="6339007" y="2534126"/>
            <a:ext cx="22860" cy="4500682"/>
          </a:xfrm>
          <a:prstGeom prst="roundRect">
            <a:avLst>
              <a:gd name="adj" fmla="val 317520"/>
            </a:avLst>
          </a:prstGeom>
          <a:solidFill>
            <a:srgbClr val="313E80"/>
          </a:solidFill>
          <a:ln/>
        </p:spPr>
      </p:sp>
      <p:sp>
        <p:nvSpPr>
          <p:cNvPr id="7" name="Shape 3"/>
          <p:cNvSpPr/>
          <p:nvPr/>
        </p:nvSpPr>
        <p:spPr>
          <a:xfrm>
            <a:off x="6521946" y="2911316"/>
            <a:ext cx="604837" cy="22860"/>
          </a:xfrm>
          <a:prstGeom prst="roundRect">
            <a:avLst>
              <a:gd name="adj" fmla="val 317520"/>
            </a:avLst>
          </a:prstGeom>
          <a:solidFill>
            <a:srgbClr val="313E80"/>
          </a:solidFill>
          <a:ln/>
        </p:spPr>
      </p:sp>
      <p:sp>
        <p:nvSpPr>
          <p:cNvPr id="8" name="Shape 4"/>
          <p:cNvSpPr/>
          <p:nvPr/>
        </p:nvSpPr>
        <p:spPr>
          <a:xfrm>
            <a:off x="6156067" y="2728436"/>
            <a:ext cx="388739" cy="388739"/>
          </a:xfrm>
          <a:prstGeom prst="roundRect">
            <a:avLst>
              <a:gd name="adj" fmla="val 1867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6276677" y="2793206"/>
            <a:ext cx="147399" cy="25919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2041"/>
              </a:lnSpc>
              <a:buNone/>
            </a:pPr>
            <a:r>
              <a:rPr lang="en-US" sz="204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2041" dirty="0"/>
          </a:p>
        </p:txBody>
      </p:sp>
      <p:sp>
        <p:nvSpPr>
          <p:cNvPr id="10" name="Text 6"/>
          <p:cNvSpPr/>
          <p:nvPr/>
        </p:nvSpPr>
        <p:spPr>
          <a:xfrm>
            <a:off x="7300913" y="2706886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Learning User Habits</a:t>
            </a:r>
            <a:endParaRPr lang="en-US" sz="1701" dirty="0"/>
          </a:p>
        </p:txBody>
      </p:sp>
      <p:sp>
        <p:nvSpPr>
          <p:cNvPr id="11" name="Text 7"/>
          <p:cNvSpPr/>
          <p:nvPr/>
        </p:nvSpPr>
        <p:spPr>
          <a:xfrm>
            <a:off x="7300913" y="3080385"/>
            <a:ext cx="6724650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app analyzes energy usage patterns to understand daily routines.</a:t>
            </a:r>
            <a:endParaRPr lang="en-US" sz="1361" dirty="0"/>
          </a:p>
        </p:txBody>
      </p:sp>
      <p:sp>
        <p:nvSpPr>
          <p:cNvPr id="12" name="Shape 8"/>
          <p:cNvSpPr/>
          <p:nvPr/>
        </p:nvSpPr>
        <p:spPr>
          <a:xfrm>
            <a:off x="6521946" y="4079677"/>
            <a:ext cx="604837" cy="22860"/>
          </a:xfrm>
          <a:prstGeom prst="roundRect">
            <a:avLst>
              <a:gd name="adj" fmla="val 317520"/>
            </a:avLst>
          </a:prstGeom>
          <a:solidFill>
            <a:srgbClr val="313E80"/>
          </a:solidFill>
          <a:ln/>
        </p:spPr>
      </p:sp>
      <p:sp>
        <p:nvSpPr>
          <p:cNvPr id="13" name="Shape 9"/>
          <p:cNvSpPr/>
          <p:nvPr/>
        </p:nvSpPr>
        <p:spPr>
          <a:xfrm>
            <a:off x="6156067" y="3896797"/>
            <a:ext cx="388739" cy="388739"/>
          </a:xfrm>
          <a:prstGeom prst="roundRect">
            <a:avLst>
              <a:gd name="adj" fmla="val 1867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276677" y="3961567"/>
            <a:ext cx="147399" cy="25919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2041"/>
              </a:lnSpc>
              <a:buNone/>
            </a:pPr>
            <a:r>
              <a:rPr lang="en-US" sz="204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2041" dirty="0"/>
          </a:p>
        </p:txBody>
      </p:sp>
      <p:sp>
        <p:nvSpPr>
          <p:cNvPr id="15" name="Text 11"/>
          <p:cNvSpPr/>
          <p:nvPr/>
        </p:nvSpPr>
        <p:spPr>
          <a:xfrm>
            <a:off x="7300913" y="3875246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Predictive Analytics</a:t>
            </a:r>
            <a:endParaRPr lang="en-US" sz="1701" dirty="0"/>
          </a:p>
        </p:txBody>
      </p:sp>
      <p:sp>
        <p:nvSpPr>
          <p:cNvPr id="16" name="Text 12"/>
          <p:cNvSpPr/>
          <p:nvPr/>
        </p:nvSpPr>
        <p:spPr>
          <a:xfrm>
            <a:off x="7300913" y="4248745"/>
            <a:ext cx="6724650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Uses data to predict future energy consumption and potential grid strain.</a:t>
            </a:r>
            <a:endParaRPr lang="en-US" sz="1361" dirty="0"/>
          </a:p>
        </p:txBody>
      </p:sp>
      <p:sp>
        <p:nvSpPr>
          <p:cNvPr id="17" name="Shape 13"/>
          <p:cNvSpPr/>
          <p:nvPr/>
        </p:nvSpPr>
        <p:spPr>
          <a:xfrm>
            <a:off x="6521946" y="5248037"/>
            <a:ext cx="604837" cy="22860"/>
          </a:xfrm>
          <a:prstGeom prst="roundRect">
            <a:avLst>
              <a:gd name="adj" fmla="val 317520"/>
            </a:avLst>
          </a:prstGeom>
          <a:solidFill>
            <a:srgbClr val="313E80"/>
          </a:solidFill>
          <a:ln/>
        </p:spPr>
      </p:sp>
      <p:sp>
        <p:nvSpPr>
          <p:cNvPr id="18" name="Shape 14"/>
          <p:cNvSpPr/>
          <p:nvPr/>
        </p:nvSpPr>
        <p:spPr>
          <a:xfrm>
            <a:off x="6156067" y="5065157"/>
            <a:ext cx="388739" cy="388739"/>
          </a:xfrm>
          <a:prstGeom prst="roundRect">
            <a:avLst>
              <a:gd name="adj" fmla="val 1867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276677" y="5129927"/>
            <a:ext cx="147399" cy="25919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2041"/>
              </a:lnSpc>
              <a:buNone/>
            </a:pPr>
            <a:r>
              <a:rPr lang="en-US" sz="204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2041" dirty="0"/>
          </a:p>
        </p:txBody>
      </p:sp>
      <p:sp>
        <p:nvSpPr>
          <p:cNvPr id="20" name="Text 16"/>
          <p:cNvSpPr/>
          <p:nvPr/>
        </p:nvSpPr>
        <p:spPr>
          <a:xfrm>
            <a:off x="7300913" y="5043607"/>
            <a:ext cx="2512933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Personalized Suggestions</a:t>
            </a:r>
            <a:endParaRPr lang="en-US" sz="1701" dirty="0"/>
          </a:p>
        </p:txBody>
      </p:sp>
      <p:sp>
        <p:nvSpPr>
          <p:cNvPr id="21" name="Text 17"/>
          <p:cNvSpPr/>
          <p:nvPr/>
        </p:nvSpPr>
        <p:spPr>
          <a:xfrm>
            <a:off x="7300913" y="5417106"/>
            <a:ext cx="6724650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Offers customized recommendations for adjusting energy usage to avoid disruptions.</a:t>
            </a:r>
            <a:endParaRPr lang="en-US" sz="1361" dirty="0"/>
          </a:p>
        </p:txBody>
      </p:sp>
      <p:sp>
        <p:nvSpPr>
          <p:cNvPr id="22" name="Shape 18"/>
          <p:cNvSpPr/>
          <p:nvPr/>
        </p:nvSpPr>
        <p:spPr>
          <a:xfrm>
            <a:off x="6521946" y="6416397"/>
            <a:ext cx="604837" cy="22860"/>
          </a:xfrm>
          <a:prstGeom prst="roundRect">
            <a:avLst>
              <a:gd name="adj" fmla="val 317520"/>
            </a:avLst>
          </a:prstGeom>
          <a:solidFill>
            <a:srgbClr val="313E80"/>
          </a:solidFill>
          <a:ln/>
        </p:spPr>
      </p:sp>
      <p:sp>
        <p:nvSpPr>
          <p:cNvPr id="23" name="Shape 19"/>
          <p:cNvSpPr/>
          <p:nvPr/>
        </p:nvSpPr>
        <p:spPr>
          <a:xfrm>
            <a:off x="6156067" y="6233517"/>
            <a:ext cx="388739" cy="388739"/>
          </a:xfrm>
          <a:prstGeom prst="roundRect">
            <a:avLst>
              <a:gd name="adj" fmla="val 1867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6276677" y="6298287"/>
            <a:ext cx="147399" cy="25919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2041"/>
              </a:lnSpc>
              <a:buNone/>
            </a:pPr>
            <a:r>
              <a:rPr lang="en-US" sz="204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2041" dirty="0"/>
          </a:p>
        </p:txBody>
      </p:sp>
      <p:sp>
        <p:nvSpPr>
          <p:cNvPr id="25" name="Text 21"/>
          <p:cNvSpPr/>
          <p:nvPr/>
        </p:nvSpPr>
        <p:spPr>
          <a:xfrm>
            <a:off x="7300913" y="6211967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Adaptive Optimization</a:t>
            </a:r>
            <a:endParaRPr lang="en-US" sz="1701" dirty="0"/>
          </a:p>
        </p:txBody>
      </p:sp>
      <p:sp>
        <p:nvSpPr>
          <p:cNvPr id="26" name="Text 22"/>
          <p:cNvSpPr/>
          <p:nvPr/>
        </p:nvSpPr>
        <p:spPr>
          <a:xfrm>
            <a:off x="7300913" y="6585466"/>
            <a:ext cx="6724650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Continuously learns and adapts to user behavior to improve energy management.</a:t>
            </a:r>
            <a:endParaRPr lang="en-US" sz="1361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18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091238" y="1358860"/>
            <a:ext cx="7934325" cy="10801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4253"/>
              </a:lnSpc>
              <a:buNone/>
            </a:pPr>
            <a:r>
              <a:rPr lang="en-US" sz="3402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Virtual Batteries and Virtual Power Plants: A New Approach to Grid Stability</a:t>
            </a:r>
            <a:endParaRPr lang="en-US" sz="3402" dirty="0"/>
          </a:p>
        </p:txBody>
      </p:sp>
      <p:sp>
        <p:nvSpPr>
          <p:cNvPr id="6" name="Shape 2"/>
          <p:cNvSpPr/>
          <p:nvPr/>
        </p:nvSpPr>
        <p:spPr>
          <a:xfrm>
            <a:off x="6091238" y="2892504"/>
            <a:ext cx="388739" cy="388739"/>
          </a:xfrm>
          <a:prstGeom prst="roundRect">
            <a:avLst>
              <a:gd name="adj" fmla="val 1867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6211848" y="2957274"/>
            <a:ext cx="147399" cy="25919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2041"/>
              </a:lnSpc>
              <a:buNone/>
            </a:pPr>
            <a:r>
              <a:rPr lang="en-US" sz="204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</a:t>
            </a:r>
            <a:endParaRPr lang="en-US" sz="2041" dirty="0"/>
          </a:p>
        </p:txBody>
      </p:sp>
      <p:sp>
        <p:nvSpPr>
          <p:cNvPr id="8" name="Text 4"/>
          <p:cNvSpPr/>
          <p:nvPr/>
        </p:nvSpPr>
        <p:spPr>
          <a:xfrm>
            <a:off x="6652736" y="2892504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Virtual Batteries</a:t>
            </a:r>
            <a:endParaRPr lang="en-US" sz="1701" dirty="0"/>
          </a:p>
        </p:txBody>
      </p:sp>
      <p:sp>
        <p:nvSpPr>
          <p:cNvPr id="9" name="Text 5"/>
          <p:cNvSpPr/>
          <p:nvPr/>
        </p:nvSpPr>
        <p:spPr>
          <a:xfrm>
            <a:off x="6652736" y="3266003"/>
            <a:ext cx="7372826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Aggregates small-scale home batteries to form a large-scale energy storage network.</a:t>
            </a:r>
            <a:endParaRPr lang="en-US" sz="1361" dirty="0"/>
          </a:p>
        </p:txBody>
      </p:sp>
      <p:sp>
        <p:nvSpPr>
          <p:cNvPr id="10" name="Shape 6"/>
          <p:cNvSpPr/>
          <p:nvPr/>
        </p:nvSpPr>
        <p:spPr>
          <a:xfrm>
            <a:off x="6091238" y="3909655"/>
            <a:ext cx="388739" cy="388739"/>
          </a:xfrm>
          <a:prstGeom prst="roundRect">
            <a:avLst>
              <a:gd name="adj" fmla="val 1867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211848" y="3974425"/>
            <a:ext cx="147399" cy="25919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2041"/>
              </a:lnSpc>
              <a:buNone/>
            </a:pPr>
            <a:r>
              <a:rPr lang="en-US" sz="204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2041" dirty="0"/>
          </a:p>
        </p:txBody>
      </p:sp>
      <p:sp>
        <p:nvSpPr>
          <p:cNvPr id="12" name="Text 8"/>
          <p:cNvSpPr/>
          <p:nvPr/>
        </p:nvSpPr>
        <p:spPr>
          <a:xfrm>
            <a:off x="6652736" y="3909655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Virtual Power Plants</a:t>
            </a:r>
            <a:endParaRPr lang="en-US" sz="1701" dirty="0"/>
          </a:p>
        </p:txBody>
      </p:sp>
      <p:sp>
        <p:nvSpPr>
          <p:cNvPr id="13" name="Text 9"/>
          <p:cNvSpPr/>
          <p:nvPr/>
        </p:nvSpPr>
        <p:spPr>
          <a:xfrm>
            <a:off x="6652736" y="4283154"/>
            <a:ext cx="7372826" cy="55316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Coordinates distributed renewable energy resources to function as a single power generation facility.</a:t>
            </a:r>
            <a:endParaRPr lang="en-US" sz="1361" dirty="0"/>
          </a:p>
        </p:txBody>
      </p:sp>
      <p:sp>
        <p:nvSpPr>
          <p:cNvPr id="14" name="Shape 10"/>
          <p:cNvSpPr/>
          <p:nvPr/>
        </p:nvSpPr>
        <p:spPr>
          <a:xfrm>
            <a:off x="6091238" y="5203388"/>
            <a:ext cx="388739" cy="388739"/>
          </a:xfrm>
          <a:prstGeom prst="roundRect">
            <a:avLst>
              <a:gd name="adj" fmla="val 1867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211848" y="5268158"/>
            <a:ext cx="147399" cy="25919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2041"/>
              </a:lnSpc>
              <a:buNone/>
            </a:pPr>
            <a:r>
              <a:rPr lang="en-US" sz="204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2041" dirty="0"/>
          </a:p>
        </p:txBody>
      </p:sp>
      <p:sp>
        <p:nvSpPr>
          <p:cNvPr id="16" name="Text 12"/>
          <p:cNvSpPr/>
          <p:nvPr/>
        </p:nvSpPr>
        <p:spPr>
          <a:xfrm>
            <a:off x="6652736" y="5203388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Benefits</a:t>
            </a:r>
            <a:endParaRPr lang="en-US" sz="1701" dirty="0"/>
          </a:p>
        </p:txBody>
      </p:sp>
      <p:sp>
        <p:nvSpPr>
          <p:cNvPr id="17" name="Text 13"/>
          <p:cNvSpPr/>
          <p:nvPr/>
        </p:nvSpPr>
        <p:spPr>
          <a:xfrm>
            <a:off x="6652736" y="5576888"/>
            <a:ext cx="7372826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Balances grid load, stabilizes the grid, and improves the utilization of renewable energy.</a:t>
            </a:r>
            <a:endParaRPr lang="en-US" sz="1361" dirty="0"/>
          </a:p>
        </p:txBody>
      </p:sp>
      <p:sp>
        <p:nvSpPr>
          <p:cNvPr id="18" name="Shape 14"/>
          <p:cNvSpPr/>
          <p:nvPr/>
        </p:nvSpPr>
        <p:spPr>
          <a:xfrm>
            <a:off x="6091238" y="6220539"/>
            <a:ext cx="388739" cy="388739"/>
          </a:xfrm>
          <a:prstGeom prst="roundRect">
            <a:avLst>
              <a:gd name="adj" fmla="val 18672"/>
            </a:avLst>
          </a:prstGeom>
          <a:solidFill>
            <a:srgbClr val="182567"/>
          </a:solidFill>
          <a:ln w="7620">
            <a:solidFill>
              <a:srgbClr val="313E80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6211848" y="6285309"/>
            <a:ext cx="147399" cy="25919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ctr">
              <a:lnSpc>
                <a:spcPts val="2041"/>
              </a:lnSpc>
              <a:buNone/>
            </a:pPr>
            <a:r>
              <a:rPr lang="en-US" sz="204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4</a:t>
            </a:r>
            <a:endParaRPr lang="en-US" sz="2041" dirty="0"/>
          </a:p>
        </p:txBody>
      </p:sp>
      <p:sp>
        <p:nvSpPr>
          <p:cNvPr id="20" name="Text 16"/>
          <p:cNvSpPr/>
          <p:nvPr/>
        </p:nvSpPr>
        <p:spPr>
          <a:xfrm>
            <a:off x="6652736" y="6220539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Flexibility</a:t>
            </a:r>
            <a:endParaRPr lang="en-US" sz="1701" dirty="0"/>
          </a:p>
        </p:txBody>
      </p:sp>
      <p:sp>
        <p:nvSpPr>
          <p:cNvPr id="21" name="Text 17"/>
          <p:cNvSpPr/>
          <p:nvPr/>
        </p:nvSpPr>
        <p:spPr>
          <a:xfrm>
            <a:off x="6652736" y="6594038"/>
            <a:ext cx="7372826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Adapts to fluctuating energy demand, ensuring a stable energy supply even during peak hours.</a:t>
            </a:r>
            <a:endParaRPr lang="en-US" sz="1361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359973"/>
          </a:xfrm>
          <a:prstGeom prst="rect">
            <a:avLst/>
          </a:prstGeom>
          <a:solidFill>
            <a:srgbClr val="000018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359973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04837" y="475178"/>
            <a:ext cx="7934325" cy="1620203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4253"/>
              </a:lnSpc>
              <a:buNone/>
            </a:pPr>
            <a:r>
              <a:rPr lang="en-US" sz="3402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Smart Meters and IoT Devices: Real-Time Data for Improved Grid Management</a:t>
            </a:r>
            <a:endParaRPr lang="en-US" sz="3402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837" y="2354580"/>
            <a:ext cx="864037" cy="1382554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1728073" y="2527340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Real-Time Monitoring</a:t>
            </a:r>
            <a:endParaRPr lang="en-US" sz="1701" dirty="0"/>
          </a:p>
        </p:txBody>
      </p:sp>
      <p:sp>
        <p:nvSpPr>
          <p:cNvPr id="8" name="Text 3"/>
          <p:cNvSpPr/>
          <p:nvPr/>
        </p:nvSpPr>
        <p:spPr>
          <a:xfrm>
            <a:off x="1728073" y="2900839"/>
            <a:ext cx="6811089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Collects and analyzes data from smart meters and IoT devices.</a:t>
            </a:r>
            <a:endParaRPr lang="en-US" sz="1361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837" y="3737134"/>
            <a:ext cx="864037" cy="1382554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1728073" y="3909893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Predictive Analytics</a:t>
            </a:r>
            <a:endParaRPr lang="en-US" sz="1701" dirty="0"/>
          </a:p>
        </p:txBody>
      </p:sp>
      <p:sp>
        <p:nvSpPr>
          <p:cNvPr id="11" name="Text 5"/>
          <p:cNvSpPr/>
          <p:nvPr/>
        </p:nvSpPr>
        <p:spPr>
          <a:xfrm>
            <a:off x="1728073" y="4283393"/>
            <a:ext cx="6811089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Uses real-time data to anticipate potential grid imbalances.</a:t>
            </a:r>
            <a:endParaRPr lang="en-US" sz="1361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837" y="5119687"/>
            <a:ext cx="864037" cy="138255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1728073" y="5292447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Early Detection</a:t>
            </a:r>
            <a:endParaRPr lang="en-US" sz="1701" dirty="0"/>
          </a:p>
        </p:txBody>
      </p:sp>
      <p:sp>
        <p:nvSpPr>
          <p:cNvPr id="14" name="Text 7"/>
          <p:cNvSpPr/>
          <p:nvPr/>
        </p:nvSpPr>
        <p:spPr>
          <a:xfrm>
            <a:off x="1728073" y="5665946"/>
            <a:ext cx="6811089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Identifies potential grid issues before they become critical.</a:t>
            </a:r>
            <a:endParaRPr lang="en-US" sz="1361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837" y="6502241"/>
            <a:ext cx="864037" cy="1382554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1728073" y="6675001"/>
            <a:ext cx="2160270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Proactive Response</a:t>
            </a:r>
            <a:endParaRPr lang="en-US" sz="1701" dirty="0"/>
          </a:p>
        </p:txBody>
      </p:sp>
      <p:sp>
        <p:nvSpPr>
          <p:cNvPr id="17" name="Text 9"/>
          <p:cNvSpPr/>
          <p:nvPr/>
        </p:nvSpPr>
        <p:spPr>
          <a:xfrm>
            <a:off x="1728073" y="7048500"/>
            <a:ext cx="6811089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early warnings to users and utilities to prevent disruptions.</a:t>
            </a:r>
            <a:endParaRPr lang="en-US" sz="1361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229600"/>
          </a:xfrm>
          <a:prstGeom prst="rect">
            <a:avLst/>
          </a:prstGeom>
          <a:solidFill>
            <a:srgbClr val="000018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5486400" cy="822960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167557" y="1305878"/>
            <a:ext cx="7781687" cy="182451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4789"/>
              </a:lnSpc>
              <a:buNone/>
            </a:pPr>
            <a:r>
              <a:rPr lang="en-US" sz="383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Advanced Analytics for Grid Optimization: Ensuring a Sustainable Energy Future</a:t>
            </a:r>
            <a:endParaRPr lang="en-US" sz="3831" dirty="0"/>
          </a:p>
        </p:txBody>
      </p:sp>
      <p:sp>
        <p:nvSpPr>
          <p:cNvPr id="6" name="Shape 2"/>
          <p:cNvSpPr/>
          <p:nvPr/>
        </p:nvSpPr>
        <p:spPr>
          <a:xfrm>
            <a:off x="6167557" y="3422213"/>
            <a:ext cx="7781687" cy="3501390"/>
          </a:xfrm>
          <a:prstGeom prst="roundRect">
            <a:avLst>
              <a:gd name="adj" fmla="val 2335"/>
            </a:avLst>
          </a:prstGeom>
          <a:noFill/>
          <a:ln w="7620">
            <a:solidFill>
              <a:srgbClr val="FFFFFF">
                <a:alpha val="24000"/>
              </a:srgbClr>
            </a:solidFill>
            <a:prstDash val="solid"/>
          </a:ln>
        </p:spPr>
      </p:sp>
      <p:sp>
        <p:nvSpPr>
          <p:cNvPr id="7" name="Shape 3"/>
          <p:cNvSpPr/>
          <p:nvPr/>
        </p:nvSpPr>
        <p:spPr>
          <a:xfrm>
            <a:off x="6175177" y="3429833"/>
            <a:ext cx="7765613" cy="87153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8" name="Text 4"/>
          <p:cNvSpPr/>
          <p:nvPr/>
        </p:nvSpPr>
        <p:spPr>
          <a:xfrm>
            <a:off x="6370796" y="3554135"/>
            <a:ext cx="2195274" cy="31146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Data Analysis</a:t>
            </a:r>
            <a:endParaRPr lang="en-US" sz="1532" dirty="0"/>
          </a:p>
        </p:txBody>
      </p:sp>
      <p:sp>
        <p:nvSpPr>
          <p:cNvPr id="9" name="Text 5"/>
          <p:cNvSpPr/>
          <p:nvPr/>
        </p:nvSpPr>
        <p:spPr>
          <a:xfrm>
            <a:off x="8962787" y="3554135"/>
            <a:ext cx="2191464" cy="6229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Energy Flow Optimization</a:t>
            </a:r>
            <a:endParaRPr lang="en-US" sz="1532" dirty="0"/>
          </a:p>
        </p:txBody>
      </p:sp>
      <p:sp>
        <p:nvSpPr>
          <p:cNvPr id="10" name="Text 6"/>
          <p:cNvSpPr/>
          <p:nvPr/>
        </p:nvSpPr>
        <p:spPr>
          <a:xfrm>
            <a:off x="11550968" y="3554135"/>
            <a:ext cx="2195274" cy="6229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Renewable Energy Integration</a:t>
            </a:r>
            <a:endParaRPr lang="en-US" sz="1532" dirty="0"/>
          </a:p>
        </p:txBody>
      </p:sp>
      <p:sp>
        <p:nvSpPr>
          <p:cNvPr id="11" name="Shape 7"/>
          <p:cNvSpPr/>
          <p:nvPr/>
        </p:nvSpPr>
        <p:spPr>
          <a:xfrm>
            <a:off x="6175177" y="4301371"/>
            <a:ext cx="7765613" cy="87153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12" name="Text 8"/>
          <p:cNvSpPr/>
          <p:nvPr/>
        </p:nvSpPr>
        <p:spPr>
          <a:xfrm>
            <a:off x="6370796" y="4425672"/>
            <a:ext cx="2195274" cy="31146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Predicts energy demand</a:t>
            </a:r>
            <a:endParaRPr lang="en-US" sz="1532" dirty="0"/>
          </a:p>
        </p:txBody>
      </p:sp>
      <p:sp>
        <p:nvSpPr>
          <p:cNvPr id="13" name="Text 9"/>
          <p:cNvSpPr/>
          <p:nvPr/>
        </p:nvSpPr>
        <p:spPr>
          <a:xfrm>
            <a:off x="8962787" y="4425672"/>
            <a:ext cx="2191464" cy="6229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Distributes energy efficiently</a:t>
            </a:r>
            <a:endParaRPr lang="en-US" sz="1532" dirty="0"/>
          </a:p>
        </p:txBody>
      </p:sp>
      <p:sp>
        <p:nvSpPr>
          <p:cNvPr id="14" name="Text 10"/>
          <p:cNvSpPr/>
          <p:nvPr/>
        </p:nvSpPr>
        <p:spPr>
          <a:xfrm>
            <a:off x="11550968" y="4425672"/>
            <a:ext cx="2195274" cy="31146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Minimizes energy waste</a:t>
            </a:r>
            <a:endParaRPr lang="en-US" sz="1532" dirty="0"/>
          </a:p>
        </p:txBody>
      </p:sp>
      <p:sp>
        <p:nvSpPr>
          <p:cNvPr id="15" name="Shape 11"/>
          <p:cNvSpPr/>
          <p:nvPr/>
        </p:nvSpPr>
        <p:spPr>
          <a:xfrm>
            <a:off x="6175177" y="5172908"/>
            <a:ext cx="7765613" cy="871538"/>
          </a:xfrm>
          <a:prstGeom prst="rect">
            <a:avLst/>
          </a:prstGeom>
          <a:solidFill>
            <a:srgbClr val="FFFFFF">
              <a:alpha val="4000"/>
            </a:srgbClr>
          </a:solidFill>
          <a:ln/>
        </p:spPr>
      </p:sp>
      <p:sp>
        <p:nvSpPr>
          <p:cNvPr id="16" name="Text 12"/>
          <p:cNvSpPr/>
          <p:nvPr/>
        </p:nvSpPr>
        <p:spPr>
          <a:xfrm>
            <a:off x="6370796" y="5297210"/>
            <a:ext cx="2195274" cy="6229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Identifies grid bottlenecks</a:t>
            </a:r>
            <a:endParaRPr lang="en-US" sz="1532" dirty="0"/>
          </a:p>
        </p:txBody>
      </p:sp>
      <p:sp>
        <p:nvSpPr>
          <p:cNvPr id="17" name="Text 13"/>
          <p:cNvSpPr/>
          <p:nvPr/>
        </p:nvSpPr>
        <p:spPr>
          <a:xfrm>
            <a:off x="8962787" y="5297210"/>
            <a:ext cx="2191464" cy="31146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Reduces energy losses</a:t>
            </a:r>
            <a:endParaRPr lang="en-US" sz="1532" dirty="0"/>
          </a:p>
        </p:txBody>
      </p:sp>
      <p:sp>
        <p:nvSpPr>
          <p:cNvPr id="18" name="Text 14"/>
          <p:cNvSpPr/>
          <p:nvPr/>
        </p:nvSpPr>
        <p:spPr>
          <a:xfrm>
            <a:off x="11550968" y="5297210"/>
            <a:ext cx="2195274" cy="6229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Maximizes renewable energy use</a:t>
            </a:r>
            <a:endParaRPr lang="en-US" sz="1532" dirty="0"/>
          </a:p>
        </p:txBody>
      </p:sp>
      <p:sp>
        <p:nvSpPr>
          <p:cNvPr id="19" name="Shape 15"/>
          <p:cNvSpPr/>
          <p:nvPr/>
        </p:nvSpPr>
        <p:spPr>
          <a:xfrm>
            <a:off x="6175177" y="6044446"/>
            <a:ext cx="7765613" cy="871538"/>
          </a:xfrm>
          <a:prstGeom prst="rect">
            <a:avLst/>
          </a:prstGeom>
          <a:solidFill>
            <a:srgbClr val="000000">
              <a:alpha val="4000"/>
            </a:srgbClr>
          </a:solidFill>
          <a:ln/>
        </p:spPr>
      </p:sp>
      <p:sp>
        <p:nvSpPr>
          <p:cNvPr id="20" name="Text 16"/>
          <p:cNvSpPr/>
          <p:nvPr/>
        </p:nvSpPr>
        <p:spPr>
          <a:xfrm>
            <a:off x="6370796" y="6168747"/>
            <a:ext cx="2195274" cy="6229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Monitors grid performance</a:t>
            </a:r>
            <a:endParaRPr lang="en-US" sz="1532" dirty="0"/>
          </a:p>
        </p:txBody>
      </p:sp>
      <p:sp>
        <p:nvSpPr>
          <p:cNvPr id="21" name="Text 17"/>
          <p:cNvSpPr/>
          <p:nvPr/>
        </p:nvSpPr>
        <p:spPr>
          <a:xfrm>
            <a:off x="8962787" y="6168747"/>
            <a:ext cx="2191464" cy="311468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Enhances grid resilience</a:t>
            </a:r>
            <a:endParaRPr lang="en-US" sz="1532" dirty="0"/>
          </a:p>
        </p:txBody>
      </p:sp>
      <p:sp>
        <p:nvSpPr>
          <p:cNvPr id="22" name="Text 18"/>
          <p:cNvSpPr/>
          <p:nvPr/>
        </p:nvSpPr>
        <p:spPr>
          <a:xfrm>
            <a:off x="11550968" y="6168747"/>
            <a:ext cx="2195274" cy="6229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2452"/>
              </a:lnSpc>
              <a:buNone/>
            </a:pPr>
            <a:r>
              <a:rPr lang="en-US" sz="1532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Promotes a sustainable energy system</a:t>
            </a:r>
            <a:endParaRPr lang="en-US" sz="1532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4630400" cy="82296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4630400" cy="8864084"/>
          </a:xfrm>
          <a:prstGeom prst="rect">
            <a:avLst/>
          </a:prstGeom>
          <a:solidFill>
            <a:srgbClr val="000018">
              <a:alpha val="75000"/>
            </a:srgbClr>
          </a:solidFill>
          <a:ln/>
        </p:spPr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0" y="0"/>
            <a:ext cx="5486400" cy="8864084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604837" y="475178"/>
            <a:ext cx="7934325" cy="1080135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4253"/>
              </a:lnSpc>
              <a:buNone/>
            </a:pPr>
            <a:r>
              <a:rPr lang="en-US" sz="3402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The Impact of the Grid Balance Maintenance App on South Africa</a:t>
            </a:r>
            <a:endParaRPr lang="en-US" sz="3402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4837" y="1814513"/>
            <a:ext cx="431959" cy="431959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604837" y="2419231"/>
            <a:ext cx="2337316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Reduced Load Shedding</a:t>
            </a:r>
            <a:endParaRPr lang="en-US" sz="1701" dirty="0"/>
          </a:p>
        </p:txBody>
      </p:sp>
      <p:sp>
        <p:nvSpPr>
          <p:cNvPr id="8" name="Text 3"/>
          <p:cNvSpPr/>
          <p:nvPr/>
        </p:nvSpPr>
        <p:spPr>
          <a:xfrm>
            <a:off x="604837" y="2792730"/>
            <a:ext cx="7934325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more reliable and consistent power to homes and businesses.</a:t>
            </a:r>
            <a:endParaRPr lang="en-US" sz="1361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4837" y="3587710"/>
            <a:ext cx="431959" cy="431959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604837" y="4192429"/>
            <a:ext cx="3801308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Enhanced Renewable Energy Utilization</a:t>
            </a:r>
            <a:endParaRPr lang="en-US" sz="1701" dirty="0"/>
          </a:p>
        </p:txBody>
      </p:sp>
      <p:sp>
        <p:nvSpPr>
          <p:cNvPr id="11" name="Text 5"/>
          <p:cNvSpPr/>
          <p:nvPr/>
        </p:nvSpPr>
        <p:spPr>
          <a:xfrm>
            <a:off x="604837" y="4565928"/>
            <a:ext cx="7934325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Promotes a cleaner and more sustainable energy system.</a:t>
            </a:r>
            <a:endParaRPr lang="en-US" sz="1361" dirty="0"/>
          </a:p>
        </p:txBody>
      </p:sp>
      <p:pic>
        <p:nvPicPr>
          <p:cNvPr id="12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4837" y="5360908"/>
            <a:ext cx="431959" cy="431959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604837" y="5965627"/>
            <a:ext cx="2303383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Empowered Consumers</a:t>
            </a:r>
            <a:endParaRPr lang="en-US" sz="1701" dirty="0"/>
          </a:p>
        </p:txBody>
      </p:sp>
      <p:sp>
        <p:nvSpPr>
          <p:cNvPr id="14" name="Text 7"/>
          <p:cNvSpPr/>
          <p:nvPr/>
        </p:nvSpPr>
        <p:spPr>
          <a:xfrm>
            <a:off x="604837" y="6339126"/>
            <a:ext cx="7934325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Provides users with greater control over their energy consumption and cost savings.</a:t>
            </a:r>
            <a:endParaRPr lang="en-US" sz="1361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04837" y="7134106"/>
            <a:ext cx="431959" cy="431959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604837" y="7738824"/>
            <a:ext cx="2356723" cy="269915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26"/>
              </a:lnSpc>
              <a:buNone/>
            </a:pPr>
            <a:r>
              <a:rPr lang="en-US" sz="170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Improved Grid Reliability</a:t>
            </a:r>
            <a:endParaRPr lang="en-US" sz="1701" dirty="0"/>
          </a:p>
        </p:txBody>
      </p:sp>
      <p:sp>
        <p:nvSpPr>
          <p:cNvPr id="17" name="Text 9"/>
          <p:cNvSpPr/>
          <p:nvPr/>
        </p:nvSpPr>
        <p:spPr>
          <a:xfrm>
            <a:off x="604837" y="8112323"/>
            <a:ext cx="7934325" cy="276582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 marL="0" indent="0" algn="l">
              <a:lnSpc>
                <a:spcPts val="2177"/>
              </a:lnSpc>
              <a:buNone/>
            </a:pPr>
            <a:r>
              <a:rPr lang="en-US" sz="1361" dirty="0">
                <a:solidFill>
                  <a:srgbClr val="CFD0D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Ensures a more robust and resilient energy infrastructure for a brighter future.</a:t>
            </a:r>
            <a:endParaRPr lang="en-US" sz="1361" dirty="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xmlns:p14="http://schemas.microsoft.com/office/powerpoint/2010/main" spd="slow" p14:dur="2000">
        <p159:morph option="byObject"/>
      </p:transition>
    </mc:Choice>
    <mc:Fallback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</TotalTime>
  <Words>482</Words>
  <Application>Microsoft Office PowerPoint</Application>
  <PresentationFormat>Custom</PresentationFormat>
  <Paragraphs>89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Roboto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Oratile Mashabathakga</cp:lastModifiedBy>
  <cp:revision>2</cp:revision>
  <dcterms:created xsi:type="dcterms:W3CDTF">2024-08-24T10:22:05Z</dcterms:created>
  <dcterms:modified xsi:type="dcterms:W3CDTF">2024-08-24T10:30:55Z</dcterms:modified>
</cp:coreProperties>
</file>